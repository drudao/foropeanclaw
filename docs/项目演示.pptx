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1645920"/>
            <a:ext cx="2286000" cy="36576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18872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浏览器历史记录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31520" y="173736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备份工具 v2.0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Spring Boot 3.4 + Vue 3 + H2 + 微信公众号 + GitHub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438912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Sylvanas · 2026-07-12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777240"/>
            <a:ext cx="1645920" cy="32004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目录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919472"/>
            <a:ext cx="8229600" cy="2240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Sylvanas · 2026-07-12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457200" y="1124712"/>
            <a:ext cx="1097280" cy="16459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097280"/>
            <a:ext cx="82296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需求分析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1325880"/>
            <a:ext cx="7955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Chrome 历史记录备份 → 查询/删除/跳转/发送到公众号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1508760"/>
            <a:ext cx="7955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v2.0: 多选截图 + 微信草稿 + JUnit 测试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1719072"/>
            <a:ext cx="1097280" cy="16459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691640"/>
            <a:ext cx="82296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系统架构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1920240"/>
            <a:ext cx="7955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Vue 3 前端 → Spring Boot API → H2 / 微信 / GitHub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2103120"/>
            <a:ext cx="7955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Chrome SQLite → html2canvas → WeChat API → Draft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313432"/>
            <a:ext cx="1097280" cy="16459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2286000"/>
            <a:ext cx="82296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完整数据流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2514600"/>
            <a:ext cx="7955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备份流 · 查询流 · 微信发送流 · 邮件流 · 推送流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2724912"/>
            <a:ext cx="1097280" cy="16459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2697480"/>
            <a:ext cx="82296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关键技术 &amp; 测试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926080"/>
            <a:ext cx="7955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Chrome 读取 / html2canvas / WeChat / SMTP / JUnit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777240"/>
            <a:ext cx="1645920" cy="32004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需求分析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919472"/>
            <a:ext cx="8229600" cy="2240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Sylvanas · 2026-07-12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457200" y="1124712"/>
            <a:ext cx="1097280" cy="16459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097280"/>
            <a:ext cx="82296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用户需求 (v1.0)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1325880"/>
            <a:ext cx="7955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"做一个备份浏览器历史记录的程序"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1508760"/>
            <a:ext cx="7955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后端 Spring Boot → REST API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1691640"/>
            <a:ext cx="7955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前端 Vue 单页面 → 查询/删除/点击跳转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1901952"/>
            <a:ext cx="1097280" cy="16459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1874520"/>
            <a:ext cx="82296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新增需求 (v2.0)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2103120"/>
            <a:ext cx="7955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选中列表数据 → 页面截图 → 发到公众号草稿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" y="2286000"/>
            <a:ext cx="7955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写测试用例 + 思考流程 + PPT → 邮件发送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2468880"/>
            <a:ext cx="7955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代码提交 GitHub → 微信提醒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2679192"/>
            <a:ext cx="1097280" cy="16459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651760"/>
            <a:ext cx="82296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交付物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" y="2880360"/>
            <a:ext cx="7955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全栈代码 + JUnit 测试 + HTML PPT + 邮件 + GitHub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777240"/>
            <a:ext cx="1645920" cy="32004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我的思考过程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919472"/>
            <a:ext cx="8229600" cy="2240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Sylvanas · 2026-07-12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457200" y="1124712"/>
            <a:ext cx="1097280" cy="16459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097280"/>
            <a:ext cx="82296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后端技术选型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1325880"/>
            <a:ext cx="7955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Spring Boot 3.4 + JPA/H2 + SQLite JDBC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1508760"/>
            <a:ext cx="7955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WeChatService: token 缓存 → 上传素材 → 创建草稿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1691640"/>
            <a:ext cx="7955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JUnit 5 + Mockito: Controller/Service 分层测试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1901952"/>
            <a:ext cx="1097280" cy="16459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1874520"/>
            <a:ext cx="82296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前端技术选型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2103120"/>
            <a:ext cx="7955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Vue 3 + Vite + Axios + html2canvas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" y="2286000"/>
            <a:ext cx="7955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多选/全选 + 截图捕获 + 发送到后端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2496312"/>
            <a:ext cx="1097280" cy="16459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2468880"/>
            <a:ext cx="82296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运维流程选型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57200" y="2697480"/>
            <a:ext cx="7955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SMTP 直连 QQ 邮箱 — Node.js net+tls 模块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7200" y="2880360"/>
            <a:ext cx="7955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Git HTTPS + PAT → drudao/ForOpeanClaw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3063240"/>
            <a:ext cx="7955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Maven 阿里云镜像 → 国内构建提速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777240"/>
            <a:ext cx="1645920" cy="32004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系统架构图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47548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Chrome → 后端 → H2 / 前端 / 微信 / 邮件 / GitHub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919472"/>
            <a:ext cx="8229600" cy="2240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Sylvanas · 2026-07-12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274320" y="91440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数据源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743200" y="91440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业务层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217920" y="91440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展示/交付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74320" y="1097280"/>
            <a:ext cx="1828800" cy="685800"/>
          </a:xfrm>
          <a:prstGeom prst="roundRect">
            <a:avLst>
              <a:gd name="adj" fmla="val 5333"/>
            </a:avLst>
          </a:prstGeom>
          <a:solidFill>
            <a:srgbClr val="FFFBEB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25400" dist="12700" dir="162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74320" y="1097280"/>
            <a:ext cx="1828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Chrome 浏览器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History SQLite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743200" y="1097280"/>
            <a:ext cx="2011680" cy="685800"/>
          </a:xfrm>
          <a:prstGeom prst="roundRect">
            <a:avLst>
              <a:gd name="adj" fmla="val 5333"/>
            </a:avLst>
          </a:prstGeom>
          <a:solidFill>
            <a:srgbClr val="EFF6FF"/>
          </a:solidFill>
          <a:ln w="12700">
            <a:solidFill>
              <a:srgbClr val="3B82F6"/>
            </a:solidFill>
            <a:prstDash val="solid"/>
          </a:ln>
          <a:effectLst>
            <a:outerShdw sx="100000" sy="100000" kx="0" ky="0" algn="bl" rotWithShape="0" blurRad="25400" dist="12700" dir="1620000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2743200" y="1097280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Spring Boot 后端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Controller → Service → JPA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486400" y="1097280"/>
            <a:ext cx="1828800" cy="685800"/>
          </a:xfrm>
          <a:prstGeom prst="roundRect">
            <a:avLst>
              <a:gd name="adj" fmla="val 5333"/>
            </a:avLst>
          </a:prstGeom>
          <a:solidFill>
            <a:srgbClr val="F5F3FF"/>
          </a:solidFill>
          <a:ln w="12700">
            <a:solidFill>
              <a:srgbClr val="4F46E5"/>
            </a:solidFill>
            <a:prstDash val="solid"/>
          </a:ln>
          <a:effectLst>
            <a:outerShdw sx="100000" sy="100000" kx="0" ky="0" algn="bl" rotWithShape="0" blurRad="25400" dist="12700" dir="16200000">
              <a:srgbClr val="000000">
                <a:alpha val="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0" y="1097280"/>
            <a:ext cx="1828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Vue 3 前端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html2canvas 多选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103120" y="1440180"/>
            <a:ext cx="64008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4754880" y="1440180"/>
            <a:ext cx="73152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4754880" y="914400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 API</a:t>
            </a:r>
            <a:endParaRPr lang="en-US" sz="600" dirty="0"/>
          </a:p>
        </p:txBody>
      </p:sp>
      <p:sp>
        <p:nvSpPr>
          <p:cNvPr id="20" name="Shape 18"/>
          <p:cNvSpPr/>
          <p:nvPr/>
        </p:nvSpPr>
        <p:spPr>
          <a:xfrm>
            <a:off x="2743200" y="2057400"/>
            <a:ext cx="1645920" cy="594360"/>
          </a:xfrm>
          <a:prstGeom prst="roundRect">
            <a:avLst>
              <a:gd name="adj" fmla="val 6154"/>
            </a:avLst>
          </a:prstGeom>
          <a:solidFill>
            <a:srgbClr val="ECFDF5"/>
          </a:solidFill>
          <a:ln w="12700">
            <a:solidFill>
              <a:srgbClr val="10B981"/>
            </a:solidFill>
            <a:prstDash val="solid"/>
          </a:ln>
          <a:effectLst>
            <a:outerShdw sx="100000" sy="100000" kx="0" ky="0" algn="bl" rotWithShape="0" blurRad="25400" dist="12700" dir="162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2743200" y="205740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H2 数据库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(本地文件)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657600" y="1783080"/>
            <a:ext cx="0" cy="27432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3291840" y="1856232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JPA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274320" y="3200400"/>
            <a:ext cx="1554480" cy="640080"/>
          </a:xfrm>
          <a:prstGeom prst="roundRect">
            <a:avLst>
              <a:gd name="adj" fmla="val 5714"/>
            </a:avLst>
          </a:prstGeom>
          <a:solidFill>
            <a:srgbClr val="ECFDF5"/>
          </a:solidFill>
          <a:ln w="12700">
            <a:solidFill>
              <a:srgbClr val="07C160"/>
            </a:solidFill>
            <a:prstDash val="solid"/>
          </a:ln>
          <a:effectLst>
            <a:outerShdw sx="100000" sy="100000" kx="0" ky="0" algn="bl" rotWithShape="0" blurRad="25400" dist="12700" dir="1620000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274320" y="3200400"/>
            <a:ext cx="1554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微信公众号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草稿箱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2103120" y="3200400"/>
            <a:ext cx="1554480" cy="640080"/>
          </a:xfrm>
          <a:prstGeom prst="roundRect">
            <a:avLst>
              <a:gd name="adj" fmla="val 5714"/>
            </a:avLst>
          </a:prstGeom>
          <a:solidFill>
            <a:srgbClr val="FFF1F2"/>
          </a:solidFill>
          <a:ln w="12700">
            <a:solidFill>
              <a:srgbClr val="F43F5E"/>
            </a:solidFill>
            <a:prstDash val="solid"/>
          </a:ln>
          <a:effectLst>
            <a:outerShdw sx="100000" sy="100000" kx="0" ky="0" algn="bl" rotWithShape="0" blurRad="25400" dist="12700" dir="16200000">
              <a:srgbClr val="000000">
                <a:alpha val="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2103120" y="3200400"/>
            <a:ext cx="1554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SMTP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QQ 邮箱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3931920" y="3200400"/>
            <a:ext cx="1554480" cy="640080"/>
          </a:xfrm>
          <a:prstGeom prst="roundRect">
            <a:avLst>
              <a:gd name="adj" fmla="val 5714"/>
            </a:avLst>
          </a:prstGeom>
          <a:solidFill>
            <a:srgbClr val="EEF2FF"/>
          </a:solidFill>
          <a:ln w="12700">
            <a:solidFill>
              <a:srgbClr val="4F46E5"/>
            </a:solidFill>
            <a:prstDash val="solid"/>
          </a:ln>
          <a:effectLst>
            <a:outerShdw sx="100000" sy="100000" kx="0" ky="0" algn="bl" rotWithShape="0" blurRad="25400" dist="12700" dir="16200000">
              <a:srgbClr val="000000">
                <a:alpha val="8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3931920" y="3200400"/>
            <a:ext cx="1554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ForOpeanClaw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389120" y="1783080"/>
            <a:ext cx="0" cy="1417320"/>
          </a:xfrm>
          <a:prstGeom prst="line">
            <a:avLst/>
          </a:prstGeom>
          <a:noFill/>
          <a:ln w="12700">
            <a:solidFill>
              <a:srgbClr val="94A3B8"/>
            </a:solidFill>
            <a:prstDash val="dash"/>
            <a:tailEnd type="triangle"/>
          </a:ln>
        </p:spPr>
      </p:sp>
      <p:sp>
        <p:nvSpPr>
          <p:cNvPr id="31" name="Text 29"/>
          <p:cNvSpPr/>
          <p:nvPr/>
        </p:nvSpPr>
        <p:spPr>
          <a:xfrm>
            <a:off x="4389120" y="22402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WeChat / SMTP / Git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6217920" y="219456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图例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217920" y="2423160"/>
            <a:ext cx="201168" cy="164592"/>
          </a:xfrm>
          <a:prstGeom prst="rect">
            <a:avLst/>
          </a:prstGeom>
          <a:solidFill>
            <a:srgbClr val="FFFBEB"/>
          </a:solidFill>
          <a:ln w="6350">
            <a:solidFill>
              <a:srgbClr val="F59E0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92240" y="2404872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数据源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6217920" y="2651760"/>
            <a:ext cx="201168" cy="164592"/>
          </a:xfrm>
          <a:prstGeom prst="rect">
            <a:avLst/>
          </a:prstGeom>
          <a:solidFill>
            <a:srgbClr val="EFF6FF"/>
          </a:solidFill>
          <a:ln w="6350">
            <a:solidFill>
              <a:srgbClr val="3B82F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92240" y="2633472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业务服务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6217920" y="2880360"/>
            <a:ext cx="201168" cy="164592"/>
          </a:xfrm>
          <a:prstGeom prst="rect">
            <a:avLst/>
          </a:prstGeom>
          <a:solidFill>
            <a:srgbClr val="ECFDF5"/>
          </a:solidFill>
          <a:ln w="6350">
            <a:solidFill>
              <a:srgbClr val="10B98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92240" y="2862072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数据库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6217920" y="3108960"/>
            <a:ext cx="201168" cy="164592"/>
          </a:xfrm>
          <a:prstGeom prst="rect">
            <a:avLst/>
          </a:prstGeom>
          <a:solidFill>
            <a:srgbClr val="F5F3FF"/>
          </a:solidFill>
          <a:ln w="6350">
            <a:solidFill>
              <a:srgbClr val="4F46E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92240" y="3090672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前端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6217920" y="3337560"/>
            <a:ext cx="201168" cy="164592"/>
          </a:xfrm>
          <a:prstGeom prst="rect">
            <a:avLst/>
          </a:prstGeom>
          <a:solidFill>
            <a:srgbClr val="ECFDF5"/>
          </a:solidFill>
          <a:ln w="6350">
            <a:solidFill>
              <a:srgbClr val="07C16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92240" y="3319272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微信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6217920" y="3566160"/>
            <a:ext cx="201168" cy="164592"/>
          </a:xfrm>
          <a:prstGeom prst="rect">
            <a:avLst/>
          </a:prstGeom>
          <a:solidFill>
            <a:srgbClr val="FFF1F2"/>
          </a:solidFill>
          <a:ln w="6350">
            <a:solidFill>
              <a:srgbClr val="F43F5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92240" y="3547872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外部服务</a:t>
            </a:r>
            <a:endParaRPr lang="en-US" sz="700" dirty="0"/>
          </a:p>
        </p:txBody>
      </p:sp>
      <p:sp>
        <p:nvSpPr>
          <p:cNvPr id="45" name="Shape 43"/>
          <p:cNvSpPr/>
          <p:nvPr/>
        </p:nvSpPr>
        <p:spPr>
          <a:xfrm>
            <a:off x="6217920" y="3794760"/>
            <a:ext cx="201168" cy="164592"/>
          </a:xfrm>
          <a:prstGeom prst="rect">
            <a:avLst/>
          </a:prstGeom>
          <a:solidFill>
            <a:srgbClr val="EEF2FF"/>
          </a:solidFill>
          <a:ln w="6350">
            <a:solidFill>
              <a:srgbClr val="4F46E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92240" y="3776472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代码仓库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777240"/>
            <a:ext cx="1645920" cy="32004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完整数据流图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47548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备份 / 查询 / 删除 / 微信发送 / 邮件 / GitHub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919472"/>
            <a:ext cx="8229600" cy="2240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Sylvanas · 2026-07-12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274320" y="960120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备份流程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37160" y="1161288"/>
            <a:ext cx="640080" cy="365760"/>
          </a:xfrm>
          <a:prstGeom prst="roundRect">
            <a:avLst>
              <a:gd name="adj" fmla="val 10000"/>
            </a:avLst>
          </a:prstGeom>
          <a:solidFill>
            <a:srgbClr val="F5F3FF"/>
          </a:solidFill>
          <a:ln w="12700">
            <a:solidFill>
              <a:srgbClr val="4F46E5"/>
            </a:solidFill>
            <a:prstDash val="solid"/>
          </a:ln>
          <a:effectLst>
            <a:outerShdw sx="100000" sy="100000" kx="0" ky="0" algn="bl" rotWithShape="0" blurRad="25400" dist="12700" dir="1620000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37160" y="1161288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点击备份</a:t>
            </a:r>
            <a:endParaRPr lang="en-US" sz="600" dirty="0"/>
          </a:p>
        </p:txBody>
      </p:sp>
      <p:sp>
        <p:nvSpPr>
          <p:cNvPr id="11" name="Shape 9"/>
          <p:cNvSpPr/>
          <p:nvPr/>
        </p:nvSpPr>
        <p:spPr>
          <a:xfrm>
            <a:off x="777240" y="1344168"/>
            <a:ext cx="13716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914400" y="1161288"/>
            <a:ext cx="777240" cy="365760"/>
          </a:xfrm>
          <a:prstGeom prst="roundRect">
            <a:avLst>
              <a:gd name="adj" fmla="val 10000"/>
            </a:avLst>
          </a:prstGeom>
          <a:solidFill>
            <a:srgbClr val="EFF6FF"/>
          </a:solidFill>
          <a:ln w="12700">
            <a:solidFill>
              <a:srgbClr val="3B82F6"/>
            </a:solidFill>
            <a:prstDash val="solid"/>
          </a:ln>
          <a:effectLst>
            <a:outerShdw sx="100000" sy="100000" kx="0" ky="0" algn="bl" rotWithShape="0" blurRad="25400" dist="12700" dir="162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914400" y="1161288"/>
            <a:ext cx="777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 /backup</a:t>
            </a:r>
            <a:endParaRPr lang="en-US" sz="600" dirty="0"/>
          </a:p>
        </p:txBody>
      </p:sp>
      <p:sp>
        <p:nvSpPr>
          <p:cNvPr id="14" name="Shape 12"/>
          <p:cNvSpPr/>
          <p:nvPr/>
        </p:nvSpPr>
        <p:spPr>
          <a:xfrm>
            <a:off x="1691640" y="1344168"/>
            <a:ext cx="13716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1828800" y="1161288"/>
            <a:ext cx="685800" cy="365760"/>
          </a:xfrm>
          <a:prstGeom prst="roundRect">
            <a:avLst>
              <a:gd name="adj" fmla="val 10000"/>
            </a:avLst>
          </a:prstGeom>
          <a:solidFill>
            <a:srgbClr val="FFFBEB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25400" dist="12700" dir="16200000">
              <a:srgbClr val="000000">
                <a:alpha val="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1828800" y="1161288"/>
            <a:ext cx="685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复制SQLite</a:t>
            </a:r>
            <a:endParaRPr lang="en-US" sz="600" dirty="0"/>
          </a:p>
        </p:txBody>
      </p:sp>
      <p:sp>
        <p:nvSpPr>
          <p:cNvPr id="17" name="Shape 15"/>
          <p:cNvSpPr/>
          <p:nvPr/>
        </p:nvSpPr>
        <p:spPr>
          <a:xfrm>
            <a:off x="2514600" y="1344168"/>
            <a:ext cx="13716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2651760" y="1161288"/>
            <a:ext cx="685800" cy="365760"/>
          </a:xfrm>
          <a:prstGeom prst="roundRect">
            <a:avLst>
              <a:gd name="adj" fmla="val 10000"/>
            </a:avLst>
          </a:prstGeom>
          <a:solidFill>
            <a:srgbClr val="FFFBEB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25400" dist="12700" dir="16200000">
              <a:srgbClr val="000000">
                <a:alpha val="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2651760" y="1161288"/>
            <a:ext cx="685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JDBC解析</a:t>
            </a:r>
            <a:endParaRPr lang="en-US" sz="600" dirty="0"/>
          </a:p>
        </p:txBody>
      </p:sp>
      <p:sp>
        <p:nvSpPr>
          <p:cNvPr id="20" name="Shape 18"/>
          <p:cNvSpPr/>
          <p:nvPr/>
        </p:nvSpPr>
        <p:spPr>
          <a:xfrm>
            <a:off x="3337560" y="1344168"/>
            <a:ext cx="13716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3474720" y="1161288"/>
            <a:ext cx="685800" cy="365760"/>
          </a:xfrm>
          <a:prstGeom prst="roundRect">
            <a:avLst>
              <a:gd name="adj" fmla="val 10000"/>
            </a:avLst>
          </a:prstGeom>
          <a:solidFill>
            <a:srgbClr val="ECFDF5"/>
          </a:solidFill>
          <a:ln w="12700">
            <a:solidFill>
              <a:srgbClr val="10B981"/>
            </a:solidFill>
            <a:prstDash val="solid"/>
          </a:ln>
          <a:effectLst>
            <a:outerShdw sx="100000" sy="100000" kx="0" ky="0" algn="bl" rotWithShape="0" blurRad="25400" dist="12700" dir="16200000">
              <a:srgbClr val="000000">
                <a:alpha val="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3474720" y="1161288"/>
            <a:ext cx="685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去重存H2</a:t>
            </a:r>
            <a:endParaRPr lang="en-US" sz="600" dirty="0"/>
          </a:p>
        </p:txBody>
      </p:sp>
      <p:sp>
        <p:nvSpPr>
          <p:cNvPr id="23" name="Shape 21"/>
          <p:cNvSpPr/>
          <p:nvPr/>
        </p:nvSpPr>
        <p:spPr>
          <a:xfrm>
            <a:off x="4160520" y="1344168"/>
            <a:ext cx="13716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4297680" y="1161288"/>
            <a:ext cx="640080" cy="365760"/>
          </a:xfrm>
          <a:prstGeom prst="roundRect">
            <a:avLst>
              <a:gd name="adj" fmla="val 10000"/>
            </a:avLst>
          </a:prstGeom>
          <a:solidFill>
            <a:srgbClr val="EFF6FF"/>
          </a:solidFill>
          <a:ln w="12700">
            <a:solidFill>
              <a:srgbClr val="3B82F6"/>
            </a:solidFill>
            <a:prstDash val="solid"/>
          </a:ln>
          <a:effectLst>
            <a:outerShdw sx="100000" sy="100000" kx="0" ky="0" algn="bl" rotWithShape="0" blurRad="25400" dist="12700" dir="1620000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297680" y="1161288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返回结果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274320" y="1691640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查询流程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37160" y="1892808"/>
            <a:ext cx="777240" cy="365760"/>
          </a:xfrm>
          <a:prstGeom prst="roundRect">
            <a:avLst>
              <a:gd name="adj" fmla="val 10000"/>
            </a:avLst>
          </a:prstGeom>
          <a:solidFill>
            <a:srgbClr val="F5F3FF"/>
          </a:solidFill>
          <a:ln w="12700">
            <a:solidFill>
              <a:srgbClr val="4F46E5"/>
            </a:solidFill>
            <a:prstDash val="solid"/>
          </a:ln>
          <a:effectLst>
            <a:outerShdw sx="100000" sy="100000" kx="0" ky="0" algn="bl" rotWithShape="0" blurRad="25400" dist="12700" dir="16200000">
              <a:srgbClr val="000000">
                <a:alpha val="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137160" y="1892808"/>
            <a:ext cx="777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Vue输入条件</a:t>
            </a:r>
            <a:endParaRPr lang="en-US" sz="600" dirty="0"/>
          </a:p>
        </p:txBody>
      </p:sp>
      <p:sp>
        <p:nvSpPr>
          <p:cNvPr id="29" name="Shape 27"/>
          <p:cNvSpPr/>
          <p:nvPr/>
        </p:nvSpPr>
        <p:spPr>
          <a:xfrm>
            <a:off x="914400" y="2075688"/>
            <a:ext cx="13716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1051560" y="1892808"/>
            <a:ext cx="822960" cy="365760"/>
          </a:xfrm>
          <a:prstGeom prst="roundRect">
            <a:avLst>
              <a:gd name="adj" fmla="val 10000"/>
            </a:avLst>
          </a:prstGeom>
          <a:solidFill>
            <a:srgbClr val="EFF6FF"/>
          </a:solidFill>
          <a:ln w="12700">
            <a:solidFill>
              <a:srgbClr val="3B82F6"/>
            </a:solidFill>
            <a:prstDash val="solid"/>
          </a:ln>
          <a:effectLst>
            <a:outerShdw sx="100000" sy="100000" kx="0" ky="0" algn="bl" rotWithShape="0" blurRad="25400" dist="12700" dir="16200000">
              <a:srgbClr val="000000">
                <a:alpha val="8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1051560" y="1892808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/history</a:t>
            </a:r>
            <a:endParaRPr lang="en-US" sz="600" dirty="0"/>
          </a:p>
        </p:txBody>
      </p:sp>
      <p:sp>
        <p:nvSpPr>
          <p:cNvPr id="32" name="Shape 30"/>
          <p:cNvSpPr/>
          <p:nvPr/>
        </p:nvSpPr>
        <p:spPr>
          <a:xfrm>
            <a:off x="1874520" y="2075688"/>
            <a:ext cx="13716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2011680" y="1892808"/>
            <a:ext cx="731520" cy="365760"/>
          </a:xfrm>
          <a:prstGeom prst="roundRect">
            <a:avLst>
              <a:gd name="adj" fmla="val 10000"/>
            </a:avLst>
          </a:prstGeom>
          <a:solidFill>
            <a:srgbClr val="ECFDF5"/>
          </a:solidFill>
          <a:ln w="12700">
            <a:solidFill>
              <a:srgbClr val="10B981"/>
            </a:solidFill>
            <a:prstDash val="solid"/>
          </a:ln>
          <a:effectLst>
            <a:outerShdw sx="100000" sy="100000" kx="0" ky="0" algn="bl" rotWithShape="0" blurRad="25400" dist="12700" dir="16200000">
              <a:srgbClr val="000000">
                <a:alpha val="8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2011680" y="1892808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JPA查H2</a:t>
            </a:r>
            <a:endParaRPr lang="en-US" sz="600" dirty="0"/>
          </a:p>
        </p:txBody>
      </p:sp>
      <p:sp>
        <p:nvSpPr>
          <p:cNvPr id="35" name="Shape 33"/>
          <p:cNvSpPr/>
          <p:nvPr/>
        </p:nvSpPr>
        <p:spPr>
          <a:xfrm>
            <a:off x="2743200" y="2075688"/>
            <a:ext cx="13716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2880360" y="1892808"/>
            <a:ext cx="731520" cy="365760"/>
          </a:xfrm>
          <a:prstGeom prst="roundRect">
            <a:avLst>
              <a:gd name="adj" fmla="val 10000"/>
            </a:avLst>
          </a:prstGeom>
          <a:solidFill>
            <a:srgbClr val="EFF6FF"/>
          </a:solidFill>
          <a:ln w="12700">
            <a:solidFill>
              <a:srgbClr val="3B82F6"/>
            </a:solidFill>
            <a:prstDash val="solid"/>
          </a:ln>
          <a:effectLst>
            <a:outerShdw sx="100000" sy="100000" kx="0" ky="0" algn="bl" rotWithShape="0" blurRad="25400" dist="12700" dir="16200000">
              <a:srgbClr val="000000">
                <a:alpha val="8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2880360" y="1892808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返回JSON</a:t>
            </a:r>
            <a:endParaRPr lang="en-US" sz="600" dirty="0"/>
          </a:p>
        </p:txBody>
      </p:sp>
      <p:sp>
        <p:nvSpPr>
          <p:cNvPr id="38" name="Shape 36"/>
          <p:cNvSpPr/>
          <p:nvPr/>
        </p:nvSpPr>
        <p:spPr>
          <a:xfrm>
            <a:off x="3611880" y="2075688"/>
            <a:ext cx="13716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3749040" y="1892808"/>
            <a:ext cx="777240" cy="365760"/>
          </a:xfrm>
          <a:prstGeom prst="roundRect">
            <a:avLst>
              <a:gd name="adj" fmla="val 10000"/>
            </a:avLst>
          </a:prstGeom>
          <a:solidFill>
            <a:srgbClr val="F5F3FF"/>
          </a:solidFill>
          <a:ln w="12700">
            <a:solidFill>
              <a:srgbClr val="4F46E5"/>
            </a:solidFill>
            <a:prstDash val="solid"/>
          </a:ln>
          <a:effectLst>
            <a:outerShdw sx="100000" sy="100000" kx="0" ky="0" algn="bl" rotWithShape="0" blurRad="25400" dist="12700" dir="16200000">
              <a:srgbClr val="000000">
                <a:alpha val="8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3749040" y="1892808"/>
            <a:ext cx="777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Vue表格展示</a:t>
            </a:r>
            <a:endParaRPr lang="en-US" sz="600" dirty="0"/>
          </a:p>
        </p:txBody>
      </p:sp>
      <p:sp>
        <p:nvSpPr>
          <p:cNvPr id="41" name="Text 39"/>
          <p:cNvSpPr/>
          <p:nvPr/>
        </p:nvSpPr>
        <p:spPr>
          <a:xfrm>
            <a:off x="274320" y="2423160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微信发送流程 (新增)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137160" y="2624328"/>
            <a:ext cx="640080" cy="365760"/>
          </a:xfrm>
          <a:prstGeom prst="roundRect">
            <a:avLst>
              <a:gd name="adj" fmla="val 10000"/>
            </a:avLst>
          </a:prstGeom>
          <a:solidFill>
            <a:srgbClr val="F5F3FF"/>
          </a:solidFill>
          <a:ln w="12700">
            <a:solidFill>
              <a:srgbClr val="4F46E5"/>
            </a:solidFill>
            <a:prstDash val="solid"/>
          </a:ln>
          <a:effectLst>
            <a:outerShdw sx="100000" sy="100000" kx="0" ky="0" algn="bl" rotWithShape="0" blurRad="25400" dist="12700" dir="16200000">
              <a:srgbClr val="000000">
                <a:alpha val="8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137160" y="2624328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Vue勾选行</a:t>
            </a:r>
            <a:endParaRPr lang="en-US" sz="600" dirty="0"/>
          </a:p>
        </p:txBody>
      </p:sp>
      <p:sp>
        <p:nvSpPr>
          <p:cNvPr id="44" name="Shape 42"/>
          <p:cNvSpPr/>
          <p:nvPr/>
        </p:nvSpPr>
        <p:spPr>
          <a:xfrm>
            <a:off x="777240" y="2807208"/>
            <a:ext cx="13716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914400" y="2624328"/>
            <a:ext cx="685800" cy="365760"/>
          </a:xfrm>
          <a:prstGeom prst="roundRect">
            <a:avLst>
              <a:gd name="adj" fmla="val 10000"/>
            </a:avLst>
          </a:prstGeom>
          <a:solidFill>
            <a:srgbClr val="F5F3FF"/>
          </a:solidFill>
          <a:ln w="12700">
            <a:solidFill>
              <a:srgbClr val="4F46E5"/>
            </a:solidFill>
            <a:prstDash val="solid"/>
          </a:ln>
          <a:effectLst>
            <a:outerShdw sx="100000" sy="100000" kx="0" ky="0" algn="bl" rotWithShape="0" blurRad="25400" dist="12700" dir="16200000">
              <a:srgbClr val="000000">
                <a:alpha val="8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914400" y="2624328"/>
            <a:ext cx="685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html2canvas</a:t>
            </a:r>
            <a:endParaRPr lang="en-US" sz="600" dirty="0"/>
          </a:p>
        </p:txBody>
      </p:sp>
      <p:sp>
        <p:nvSpPr>
          <p:cNvPr id="47" name="Shape 45"/>
          <p:cNvSpPr/>
          <p:nvPr/>
        </p:nvSpPr>
        <p:spPr>
          <a:xfrm>
            <a:off x="1600200" y="2807208"/>
            <a:ext cx="13716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1737360" y="2624328"/>
            <a:ext cx="868680" cy="365760"/>
          </a:xfrm>
          <a:prstGeom prst="roundRect">
            <a:avLst>
              <a:gd name="adj" fmla="val 10000"/>
            </a:avLst>
          </a:prstGeom>
          <a:solidFill>
            <a:srgbClr val="EFF6FF"/>
          </a:solidFill>
          <a:ln w="12700">
            <a:solidFill>
              <a:srgbClr val="3B82F6"/>
            </a:solidFill>
            <a:prstDash val="solid"/>
          </a:ln>
          <a:effectLst>
            <a:outerShdw sx="100000" sy="100000" kx="0" ky="0" algn="bl" rotWithShape="0" blurRad="25400" dist="12700" dir="16200000">
              <a:srgbClr val="000000">
                <a:alpha val="8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1737360" y="2624328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 /wechat/send</a:t>
            </a:r>
            <a:endParaRPr lang="en-US" sz="600" dirty="0"/>
          </a:p>
        </p:txBody>
      </p:sp>
      <p:sp>
        <p:nvSpPr>
          <p:cNvPr id="50" name="Shape 48"/>
          <p:cNvSpPr/>
          <p:nvPr/>
        </p:nvSpPr>
        <p:spPr>
          <a:xfrm>
            <a:off x="2606040" y="2807208"/>
            <a:ext cx="13716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51" name="Shape 49"/>
          <p:cNvSpPr/>
          <p:nvPr/>
        </p:nvSpPr>
        <p:spPr>
          <a:xfrm>
            <a:off x="2743200" y="2624328"/>
            <a:ext cx="731520" cy="365760"/>
          </a:xfrm>
          <a:prstGeom prst="roundRect">
            <a:avLst>
              <a:gd name="adj" fmla="val 10000"/>
            </a:avLst>
          </a:prstGeom>
          <a:solidFill>
            <a:srgbClr val="ECFDF5"/>
          </a:solidFill>
          <a:ln w="12700">
            <a:solidFill>
              <a:srgbClr val="07C160"/>
            </a:solidFill>
            <a:prstDash val="solid"/>
          </a:ln>
          <a:effectLst>
            <a:outerShdw sx="100000" sy="100000" kx="0" ky="0" algn="bl" rotWithShape="0" blurRad="25400" dist="12700" dir="16200000">
              <a:srgbClr val="000000">
                <a:alpha val="8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2743200" y="2624328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微信上传素材</a:t>
            </a:r>
            <a:endParaRPr lang="en-US" sz="600" dirty="0"/>
          </a:p>
        </p:txBody>
      </p:sp>
      <p:sp>
        <p:nvSpPr>
          <p:cNvPr id="53" name="Shape 51"/>
          <p:cNvSpPr/>
          <p:nvPr/>
        </p:nvSpPr>
        <p:spPr>
          <a:xfrm>
            <a:off x="3474720" y="2807208"/>
            <a:ext cx="13716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54" name="Shape 52"/>
          <p:cNvSpPr/>
          <p:nvPr/>
        </p:nvSpPr>
        <p:spPr>
          <a:xfrm>
            <a:off x="3611880" y="2624328"/>
            <a:ext cx="685800" cy="365760"/>
          </a:xfrm>
          <a:prstGeom prst="roundRect">
            <a:avLst>
              <a:gd name="adj" fmla="val 10000"/>
            </a:avLst>
          </a:prstGeom>
          <a:solidFill>
            <a:srgbClr val="ECFDF5"/>
          </a:solidFill>
          <a:ln w="12700">
            <a:solidFill>
              <a:srgbClr val="07C160"/>
            </a:solidFill>
            <a:prstDash val="solid"/>
          </a:ln>
          <a:effectLst>
            <a:outerShdw sx="100000" sy="100000" kx="0" ky="0" algn="bl" rotWithShape="0" blurRad="25400" dist="12700" dir="16200000">
              <a:srgbClr val="000000">
                <a:alpha val="8000"/>
              </a:srgbClr>
            </a:outerShdw>
          </a:effectLst>
        </p:spPr>
      </p:sp>
      <p:sp>
        <p:nvSpPr>
          <p:cNvPr id="55" name="Text 53"/>
          <p:cNvSpPr/>
          <p:nvPr/>
        </p:nvSpPr>
        <p:spPr>
          <a:xfrm>
            <a:off x="3611880" y="2624328"/>
            <a:ext cx="685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创建草稿</a:t>
            </a:r>
            <a:endParaRPr lang="en-US" sz="600" dirty="0"/>
          </a:p>
        </p:txBody>
      </p:sp>
      <p:sp>
        <p:nvSpPr>
          <p:cNvPr id="56" name="Shape 54"/>
          <p:cNvSpPr/>
          <p:nvPr/>
        </p:nvSpPr>
        <p:spPr>
          <a:xfrm>
            <a:off x="4297680" y="2807208"/>
            <a:ext cx="13716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57" name="Shape 55"/>
          <p:cNvSpPr/>
          <p:nvPr/>
        </p:nvSpPr>
        <p:spPr>
          <a:xfrm>
            <a:off x="4434840" y="2624328"/>
            <a:ext cx="731520" cy="365760"/>
          </a:xfrm>
          <a:prstGeom prst="roundRect">
            <a:avLst>
              <a:gd name="adj" fmla="val 10000"/>
            </a:avLst>
          </a:prstGeom>
          <a:solidFill>
            <a:srgbClr val="EFF6FF"/>
          </a:solidFill>
          <a:ln w="12700">
            <a:solidFill>
              <a:srgbClr val="3B82F6"/>
            </a:solidFill>
            <a:prstDash val="solid"/>
          </a:ln>
          <a:effectLst>
            <a:outerShdw sx="100000" sy="100000" kx="0" ky="0" algn="bl" rotWithShape="0" blurRad="25400" dist="12700" dir="16200000">
              <a:srgbClr val="000000">
                <a:alpha val="8000"/>
              </a:srgbClr>
            </a:outerShdw>
          </a:effectLst>
        </p:spPr>
      </p:sp>
      <p:sp>
        <p:nvSpPr>
          <p:cNvPr id="58" name="Text 56"/>
          <p:cNvSpPr/>
          <p:nvPr/>
        </p:nvSpPr>
        <p:spPr>
          <a:xfrm>
            <a:off x="4434840" y="2624328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返回articleId</a:t>
            </a:r>
            <a:endParaRPr lang="en-US" sz="600" dirty="0"/>
          </a:p>
        </p:txBody>
      </p:sp>
      <p:sp>
        <p:nvSpPr>
          <p:cNvPr id="59" name="Text 57"/>
          <p:cNvSpPr/>
          <p:nvPr/>
        </p:nvSpPr>
        <p:spPr>
          <a:xfrm>
            <a:off x="274320" y="3154680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邮件 &amp; GitHub 推送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137160" y="3355848"/>
            <a:ext cx="914400" cy="365760"/>
          </a:xfrm>
          <a:prstGeom prst="roundRect">
            <a:avLst>
              <a:gd name="adj" fmla="val 10000"/>
            </a:avLst>
          </a:prstGeom>
          <a:solidFill>
            <a:srgbClr val="EFF6FF"/>
          </a:solidFill>
          <a:ln w="12700">
            <a:solidFill>
              <a:srgbClr val="3B82F6"/>
            </a:solidFill>
            <a:prstDash val="solid"/>
          </a:ln>
          <a:effectLst>
            <a:outerShdw sx="100000" sy="100000" kx="0" ky="0" algn="bl" rotWithShape="0" blurRad="25400" dist="12700" dir="16200000">
              <a:srgbClr val="000000">
                <a:alpha val="8000"/>
              </a:srgbClr>
            </a:outerShdw>
          </a:effectLst>
        </p:spPr>
      </p:sp>
      <p:sp>
        <p:nvSpPr>
          <p:cNvPr id="61" name="Text 59"/>
          <p:cNvSpPr/>
          <p:nvPr/>
        </p:nvSpPr>
        <p:spPr>
          <a:xfrm>
            <a:off x="137160" y="3355848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Node脚本</a:t>
            </a:r>
            <a:endParaRPr lang="en-US" sz="600" dirty="0"/>
          </a:p>
          <a:p>
            <a:pPr algn="ctr" indent="0" marL="0">
              <a:buNone/>
            </a:pPr>
            <a:r>
              <a:rPr lang="en-US" sz="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SMTP直连</a:t>
            </a:r>
            <a:endParaRPr lang="en-US" sz="600" dirty="0"/>
          </a:p>
        </p:txBody>
      </p:sp>
      <p:sp>
        <p:nvSpPr>
          <p:cNvPr id="62" name="Shape 60"/>
          <p:cNvSpPr/>
          <p:nvPr/>
        </p:nvSpPr>
        <p:spPr>
          <a:xfrm>
            <a:off x="1051560" y="3538728"/>
            <a:ext cx="13716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63" name="Shape 61"/>
          <p:cNvSpPr/>
          <p:nvPr/>
        </p:nvSpPr>
        <p:spPr>
          <a:xfrm>
            <a:off x="1188720" y="3355848"/>
            <a:ext cx="914400" cy="365760"/>
          </a:xfrm>
          <a:prstGeom prst="roundRect">
            <a:avLst>
              <a:gd name="adj" fmla="val 10000"/>
            </a:avLst>
          </a:prstGeom>
          <a:solidFill>
            <a:srgbClr val="FFF1F2"/>
          </a:solidFill>
          <a:ln w="12700">
            <a:solidFill>
              <a:srgbClr val="F43F5E"/>
            </a:solidFill>
            <a:prstDash val="solid"/>
          </a:ln>
          <a:effectLst>
            <a:outerShdw sx="100000" sy="100000" kx="0" ky="0" algn="bl" rotWithShape="0" blurRad="25400" dist="12700" dir="16200000">
              <a:srgbClr val="000000">
                <a:alpha val="8000"/>
              </a:srgbClr>
            </a:outerShdw>
          </a:effectLst>
        </p:spPr>
      </p:sp>
      <p:sp>
        <p:nvSpPr>
          <p:cNvPr id="64" name="Text 62"/>
          <p:cNvSpPr/>
          <p:nvPr/>
        </p:nvSpPr>
        <p:spPr>
          <a:xfrm>
            <a:off x="1188720" y="3355848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QQ邮箱</a:t>
            </a:r>
            <a:endParaRPr lang="en-US" sz="600" dirty="0"/>
          </a:p>
          <a:p>
            <a:pPr algn="ctr" indent="0" marL="0">
              <a:buNone/>
            </a:pPr>
            <a:r>
              <a:rPr lang="en-US" sz="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带附件</a:t>
            </a:r>
            <a:endParaRPr lang="en-US" sz="600" dirty="0"/>
          </a:p>
        </p:txBody>
      </p:sp>
      <p:sp>
        <p:nvSpPr>
          <p:cNvPr id="65" name="Shape 63"/>
          <p:cNvSpPr/>
          <p:nvPr/>
        </p:nvSpPr>
        <p:spPr>
          <a:xfrm>
            <a:off x="2103120" y="3538728"/>
            <a:ext cx="82296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66" name="Shape 64"/>
          <p:cNvSpPr/>
          <p:nvPr/>
        </p:nvSpPr>
        <p:spPr>
          <a:xfrm>
            <a:off x="2926080" y="3355848"/>
            <a:ext cx="914400" cy="365760"/>
          </a:xfrm>
          <a:prstGeom prst="roundRect">
            <a:avLst>
              <a:gd name="adj" fmla="val 10000"/>
            </a:avLst>
          </a:prstGeom>
          <a:solidFill>
            <a:srgbClr val="EFF6FF"/>
          </a:solidFill>
          <a:ln w="12700">
            <a:solidFill>
              <a:srgbClr val="3B82F6"/>
            </a:solidFill>
            <a:prstDash val="solid"/>
          </a:ln>
          <a:effectLst>
            <a:outerShdw sx="100000" sy="100000" kx="0" ky="0" algn="bl" rotWithShape="0" blurRad="25400" dist="12700" dir="16200000">
              <a:srgbClr val="000000">
                <a:alpha val="8000"/>
              </a:srgbClr>
            </a:outerShdw>
          </a:effectLst>
        </p:spPr>
      </p:sp>
      <p:sp>
        <p:nvSpPr>
          <p:cNvPr id="67" name="Text 65"/>
          <p:cNvSpPr/>
          <p:nvPr/>
        </p:nvSpPr>
        <p:spPr>
          <a:xfrm>
            <a:off x="2926080" y="3355848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Git命令</a:t>
            </a:r>
            <a:endParaRPr lang="en-US" sz="600" dirty="0"/>
          </a:p>
          <a:p>
            <a:pPr algn="ctr" indent="0" marL="0">
              <a:buNone/>
            </a:pPr>
            <a:r>
              <a:rPr lang="en-US" sz="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HTTPS+Token</a:t>
            </a:r>
            <a:endParaRPr lang="en-US" sz="600" dirty="0"/>
          </a:p>
        </p:txBody>
      </p:sp>
      <p:sp>
        <p:nvSpPr>
          <p:cNvPr id="68" name="Shape 66"/>
          <p:cNvSpPr/>
          <p:nvPr/>
        </p:nvSpPr>
        <p:spPr>
          <a:xfrm>
            <a:off x="3840480" y="3538728"/>
            <a:ext cx="13716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69" name="Shape 67"/>
          <p:cNvSpPr/>
          <p:nvPr/>
        </p:nvSpPr>
        <p:spPr>
          <a:xfrm>
            <a:off x="3977640" y="3355848"/>
            <a:ext cx="914400" cy="365760"/>
          </a:xfrm>
          <a:prstGeom prst="roundRect">
            <a:avLst>
              <a:gd name="adj" fmla="val 10000"/>
            </a:avLst>
          </a:prstGeom>
          <a:solidFill>
            <a:srgbClr val="EEF2FF"/>
          </a:solidFill>
          <a:ln w="12700">
            <a:solidFill>
              <a:srgbClr val="4F46E5"/>
            </a:solidFill>
            <a:prstDash val="solid"/>
          </a:ln>
          <a:effectLst>
            <a:outerShdw sx="100000" sy="100000" kx="0" ky="0" algn="bl" rotWithShape="0" blurRad="25400" dist="12700" dir="16200000">
              <a:srgbClr val="000000">
                <a:alpha val="8000"/>
              </a:srgbClr>
            </a:outerShdw>
          </a:effectLst>
        </p:spPr>
      </p:sp>
      <p:sp>
        <p:nvSpPr>
          <p:cNvPr id="70" name="Text 68"/>
          <p:cNvSpPr/>
          <p:nvPr/>
        </p:nvSpPr>
        <p:spPr>
          <a:xfrm>
            <a:off x="3977640" y="3355848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</a:t>
            </a:r>
            <a:endParaRPr lang="en-US" sz="600" dirty="0"/>
          </a:p>
          <a:p>
            <a:pPr algn="ctr" indent="0" marL="0">
              <a:buNone/>
            </a:pPr>
            <a:r>
              <a:rPr lang="en-US" sz="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远程仓库</a:t>
            </a:r>
            <a:endParaRPr lang="en-US" sz="600" dirty="0"/>
          </a:p>
        </p:txBody>
      </p:sp>
      <p:sp>
        <p:nvSpPr>
          <p:cNvPr id="71" name="Shape 69"/>
          <p:cNvSpPr/>
          <p:nvPr/>
        </p:nvSpPr>
        <p:spPr>
          <a:xfrm>
            <a:off x="2103120" y="3611880"/>
            <a:ext cx="82296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dash"/>
            <a:tailEnd type="triangle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777240"/>
            <a:ext cx="1645920" cy="32004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 API 接口设计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919472"/>
            <a:ext cx="8229600" cy="2240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Sylvanas · 2026-07-12</a:t>
            </a:r>
            <a:endParaRPr lang="en-US" sz="7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05840"/>
          <a:ext cx="8595360" cy="2194560"/>
        </p:xfrm>
        <a:graphic>
          <a:graphicData uri="http://schemas.openxmlformats.org/drawingml/2006/table">
            <a:tbl>
              <a:tblPr/>
              <a:tblGrid>
                <a:gridCol w="640080"/>
                <a:gridCol w="2103120"/>
                <a:gridCol w="2926080"/>
                <a:gridCol w="292608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方法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路径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参数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说明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B82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/api/history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keyword, page, size, startDate, endDate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分页查询历史记录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43F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DELETE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/api/history/{id}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删除单条记录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B98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/api/history/backup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手动触发 Chrome 备份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B82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/api/history/stats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获取备份总记录数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B98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/api/history/wechat/send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imageData, selectedIds, keyword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截图→微信素材→公众号草稿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383280"/>
            <a:ext cx="1097280" cy="22860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9" name="Text 6"/>
          <p:cNvSpPr/>
          <p:nvPr/>
        </p:nvSpPr>
        <p:spPr>
          <a:xfrm>
            <a:off x="457200" y="3456432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核心后端类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457200" y="370332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HistoryController      REST API 入口，5 个端点</a:t>
            </a:r>
            <a:endParaRPr lang="en-US" sz="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WeChatController         微信公众号 API 转发</a:t>
            </a:r>
            <a:endParaRPr lang="en-US" sz="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HistoryService          业务逻辑层 + @Scheduled 定时备份</a:t>
            </a:r>
            <a:endParaRPr lang="en-US" sz="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WeChatService           微信 token/素材/草稿管理</a:t>
            </a:r>
            <a:endParaRPr lang="en-US" sz="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ChromeHistoryReader   SQLite 文件读取 + 时间戳转换</a:t>
            </a:r>
            <a:endParaRPr lang="en-US" sz="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HistoryRecord           JPA 实体，映射 history_records 表</a:t>
            </a:r>
            <a:endParaRPr lang="en-US" sz="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HistoryRecordRepository Spring Data JPA 自定义查询接口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777240"/>
            <a:ext cx="1645920" cy="32004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关键技术实现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919472"/>
            <a:ext cx="8229600" cy="2240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Sylvanas · 2026-07-12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457200" y="1124712"/>
            <a:ext cx="1097280" cy="16459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097280"/>
            <a:ext cx="82296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Chrome 历史记录读取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1325880"/>
            <a:ext cx="7955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文件: %LOCALAPPDATA%\Google\Chrome\User Data\Default\History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1508760"/>
            <a:ext cx="7955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Chrome 运行时锁定 → 复制副本再读取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1691640"/>
            <a:ext cx="7955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时间戳: 1601-01-01 UTC 微秒 → LocalDateTime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1901952"/>
            <a:ext cx="1097280" cy="16459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1874520"/>
            <a:ext cx="82296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html2canvas 截图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2103120"/>
            <a:ext cx="7955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捕获 DOM 元素 → canvas → base64 → POST 到后端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" y="2286000"/>
            <a:ext cx="7955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scale=2 高清输出，useCORS 跨域支持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2496312"/>
            <a:ext cx="1097280" cy="16459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2468880"/>
            <a:ext cx="82296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微信公众号 API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57200" y="2697480"/>
            <a:ext cx="7955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token 缓存: 2h 有效期，过期自动续期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7200" y="2880360"/>
            <a:ext cx="7955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上传永久素材: /material/add_material?type=image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3063240"/>
            <a:ext cx="7955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创建图文草稿: /draft/add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3273552"/>
            <a:ext cx="1097280" cy="16459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3246120"/>
            <a:ext cx="82296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JUnit 5 + Mockito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7200" y="3474720"/>
            <a:ext cx="7955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@WebMvcTest 测试 Controller 端点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7200" y="3657600"/>
            <a:ext cx="7955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@ExtendWith(MockitoExtension) 测试 Service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" y="3867912"/>
            <a:ext cx="1097280" cy="16459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3840480"/>
            <a:ext cx="82296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SMTP &amp; GitHub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57200" y="4069080"/>
            <a:ext cx="7955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smtp.qq.com:465 (SSL) + PAT Token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777240"/>
            <a:ext cx="1645920" cy="32004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微信集成详解 - 前端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47548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Vue 3 + html2canvas + 多选/全选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919472"/>
            <a:ext cx="8229600" cy="2240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Sylvanas · 2026-07-12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274320" y="1005840"/>
            <a:ext cx="4206240" cy="329184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74320" y="1005840"/>
            <a:ext cx="4206240" cy="274320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10058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🖥 前端实现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1417320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每行新增 checkbox 列 (col-cb)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457200" y="1645920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 全选 checkbox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457200" y="1874520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选中行高亮 .selected 样式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57200" y="2103120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选中数量 &gt; 0 时显示绿色按钮: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457200" y="2331720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"📤 发送选中到公众号"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57200" y="2560320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点击后 html2canvas 捕获表格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57200" y="2788920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canvas.toDataURL("image/png")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57200" y="3017520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 { imageData, selectedIds }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57200" y="3246120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显示成功/失败消息 5 秒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57200" y="3474720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成功自动清空选中状态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754880" y="1005840"/>
            <a:ext cx="4114800" cy="329184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754880" y="1005840"/>
            <a:ext cx="4114800" cy="274320"/>
          </a:xfrm>
          <a:prstGeom prst="rect">
            <a:avLst/>
          </a:prstGeom>
          <a:solidFill>
            <a:srgbClr val="07C160"/>
          </a:solidFill>
          <a:ln/>
        </p:spPr>
      </p:sp>
      <p:sp>
        <p:nvSpPr>
          <p:cNvPr id="23" name="Text 21"/>
          <p:cNvSpPr/>
          <p:nvPr/>
        </p:nvSpPr>
        <p:spPr>
          <a:xfrm>
            <a:off x="4937760" y="10058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🔧 后端 WeChatService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937760" y="1417320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 /api/history/wechat/send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4937760" y="1645920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解析 imageBase64 → byte[]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4937760" y="1874520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getToken(): 缓存 2h 自动续期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4937760" y="2103120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uploadImage(): multipart/form-data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937760" y="2331720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/material/add_material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4937760" y="2560320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返回 media_id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4937760" y="2788920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createDraft(): 图文草稿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4937760" y="3017520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/draft/add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937760" y="3246120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标题: 浏览器历史记录备份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937760" y="3474720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正文: 截图 + 记录表格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4937760" y="3703320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返回 article_id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777240"/>
            <a:ext cx="1645920" cy="32004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测试结果 (v2.0)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919472"/>
            <a:ext cx="8229600" cy="2240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Sylvanas · 2026-07-12</a:t>
            </a:r>
            <a:endParaRPr lang="en-US" sz="7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051560"/>
          <a:ext cx="8503920" cy="1828800"/>
        </p:xfrm>
        <a:graphic>
          <a:graphicData uri="http://schemas.openxmlformats.org/drawingml/2006/table">
            <a:tbl>
              <a:tblPr/>
              <a:tblGrid>
                <a:gridCol w="2560320"/>
                <a:gridCol w="411480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测试类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测试方法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结果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HistoryControllerTest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查询/关键词/删除/备份/统计/日期范围/wechat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0B98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7 用例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HistoryServiceTest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备份/去重/空数据/搜索/删除/统计/多ID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0B98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8 用例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ChromeHistoryReaderTest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文件不存在/SQLite读取/时间戳转换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0B98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3 用例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WeChatServiceTest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无效图片/不存在ID/空选中列表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0B98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3 用例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27432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技术栈: JUnit 5 + Mockito 5 + Spring Boot Test + @WebMvcTest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457200" y="3063240"/>
            <a:ext cx="1097280" cy="1828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310896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端到端验证</a:t>
            </a:r>
            <a:endParaRPr lang="en-US" sz="12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337560"/>
          <a:ext cx="8503920" cy="1371600"/>
        </p:xfrm>
        <a:graphic>
          <a:graphicData uri="http://schemas.openxmlformats.org/drawingml/2006/table">
            <a:tbl>
              <a:tblPr/>
              <a:tblGrid>
                <a:gridCol w="3200400"/>
                <a:gridCol w="530352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验证项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结果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微信 API token 获取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0B98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成功 (IP白名单通过)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前端 npm install + build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0B98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67 包 0 漏洞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SMTP 邮件发送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F59E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待执行 (见Step 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GitHub 推送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F59E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待执行 (见Step 6)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777240"/>
            <a:ext cx="1645920" cy="32004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项目文件结构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919472"/>
            <a:ext cx="8229600" cy="2240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Sylvanas · 2026-07-12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457200" y="1005840"/>
            <a:ext cx="8229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browser-history-backup/</a:t>
            </a:r>
            <a:endParaRPr lang="en-US" sz="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pom.xml — Maven (Spring Boot 3.4 / H2 / SQLite)</a:t>
            </a:r>
            <a:endParaRPr lang="en-US" sz="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settings.xml — 阿里云 Maven 镜像</a:t>
            </a:r>
            <a:endParaRPr lang="en-US" sz="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src/main/java/com/example/historybackup/</a:t>
            </a:r>
            <a:endParaRPr lang="en-US" sz="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├─ HistoryBackupApplication.java</a:t>
            </a:r>
            <a:endParaRPr lang="en-US" sz="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├─ controller/HistoryController.java (5 端点)</a:t>
            </a:r>
            <a:endParaRPr lang="en-US" sz="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├─ controller/WeChatController.java</a:t>
            </a:r>
            <a:endParaRPr lang="en-US" sz="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├─ service/HistoryService.java</a:t>
            </a:r>
            <a:endParaRPr lang="en-US" sz="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├─ service/WeChatService.java (微信 API)</a:t>
            </a:r>
            <a:endParaRPr lang="en-US" sz="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├─ service/ChromeHistoryReader.java</a:t>
            </a:r>
            <a:endParaRPr lang="en-US" sz="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├─ model/HistoryRecord.java</a:t>
            </a:r>
            <a:endParaRPr lang="en-US" sz="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└─ repository/HistoryRecordRepository.java</a:t>
            </a:r>
            <a:endParaRPr lang="en-US" sz="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src/test/ (JUnit 5 + Mockito — 19+ 用例)</a:t>
            </a:r>
            <a:endParaRPr lang="en-US" sz="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frontend/src/App.vue (Vue 3 + html2canvas)</a:t>
            </a:r>
            <a:endParaRPr lang="en-US" sz="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frontend/src/main.js</a:t>
            </a:r>
            <a:endParaRPr lang="en-US" sz="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frontend/vite.config.js</a:t>
            </a:r>
            <a:endParaRPr lang="en-US" sz="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src/main/resources/application.yml</a:t>
            </a:r>
            <a:endParaRPr lang="en-US" sz="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 docs/ (需求文档 + 测试报告 + 本 PPT)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777240"/>
            <a:ext cx="1645920" cy="32004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&amp; 邮件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919472"/>
            <a:ext cx="8229600" cy="2240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Sylvanas · 2026-07-12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457200" y="1124712"/>
            <a:ext cx="1097280" cy="16459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097280"/>
            <a:ext cx="82296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1325880"/>
            <a:ext cx="7955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仓库: github.com/drudao/ForOpeanClaw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1508760"/>
            <a:ext cx="7955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分支: feature/history-backup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1691640"/>
            <a:ext cx="7955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内容: 后端 Java + 前端 Vue + 测试 + 文档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1901952"/>
            <a:ext cx="1097280" cy="16459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1874520"/>
            <a:ext cx="82296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邮件通知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2103120"/>
            <a:ext cx="7955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收件人: 908561654@qq.com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" y="2286000"/>
            <a:ext cx="7955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附件: 项目演示.pptx + requirements-and-thoughts.md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2468880"/>
            <a:ext cx="7955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附件: test-report.md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2679192"/>
            <a:ext cx="1097280" cy="16459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651760"/>
            <a:ext cx="82296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项目启动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" y="2880360"/>
            <a:ext cx="7955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后端: mvn spring-boot:run (8080)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3063240"/>
            <a:ext cx="7955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前端: cd frontend &amp;&amp; npm run dev (5173)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7200" y="3246120"/>
            <a:ext cx="7955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访问: http://localhost:5173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浏览器历史记录备份工具 - v2.0 - 项目演示</dc:subject>
  <dc:creator>Sylvanas</dc:creator>
  <cp:lastModifiedBy>Sylvanas</cp:lastModifiedBy>
  <cp:revision>1</cp:revision>
  <dcterms:created xsi:type="dcterms:W3CDTF">2026-07-12T03:55:36Z</dcterms:created>
  <dcterms:modified xsi:type="dcterms:W3CDTF">2026-07-12T03:55:36Z</dcterms:modified>
</cp:coreProperties>
</file>